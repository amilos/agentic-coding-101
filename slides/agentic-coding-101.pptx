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a train-the-trainer session: you will both learn the material and learn to deliver it. Two hours, hands-on, built around a fictional retail bank "NorthBank" core. Set expectations: we are USING Copilot, not building agents from scratch. Confirm everyone has the desktop app installed and a paid licence before we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arc: autocomplete (Copilot v1) → chat (side-panel Q&amp;A) → agent-native (delegate whole tasks). The mental shift for a bank engineer: you move from author to reviewer/director. Emphasise scope repeatedly today: we are consumers of an agentic tool, not authors of a custom agent framework. That keeps the two hours focused.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 slide. As a trainer, restate these four takeaways at the wrap so people feel the loop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 the facts: GA 17 June 2026, desktop, paid licence, all three OSes. Contrast with the VS Code Copilot plugin most people know: this is a standalone app organised around git worktrees, not an editor extension. It can run work locally or hand it to the GitHub-hosted cloud coding agent. This distinction matters for the Delphi station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worktree is the key safety property: an agent can churn on session B while you keep working, and nothing leaks between them. Show this live in the tour. Analogy: each session gets its own sandboxed copy of the working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Canvases are where the agent's thinking becomes visible and reviewable. As a trainer, keep pointing at the canvas during demos so people learn to read the plan and diff before they approve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Work is where you triage. When cloud sessions finish, they surface here. Encourage trainers to start demos from My Work so attendees build the habit of a single queue rather than losing track of parallel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Automations turn Copilot into a background teammate: nightly dependency/CVE sweeps, compliance checks, doc refreshes. We wire one up in Station 7. Caution attendees on cost/noise: schedule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Merge shepherds a PR the last mile. It is assistive, not autonomous: you still approve. In a bank, human review gates stay mandatory — make that explicit here and again on the guardrails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ways to get skills into a repo: drop folders under .github/skills/ (the app reads them), or install a plugin from a marketplace (next slide). In the tour (0:10–0:25) we install from our own marketplace, amilos/agentic-coding-101-marketplace, which bundles Addy Osmani's and Matt Pocock's packs. Attendees author their own in Station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publish a real marketplace, amilos/agentic-coding-101-marketplace, bundling Addy Osmani's (24) and Matt Pocock's (39) skills as two plugins — MIT, redistributed with attribution. Do it live in the app GUI: Settings → Plugins → Install → Add Marketplace, enter the owner/repo, then click Install on each listed plugin. A plain skills repo is NOT a marketplace (no marketplace.json), so it will not show up here. A few clicks and every session in the repo gains ~60 community skills. The demo-repo ships a sample security-reviewer.agent.md to show the shape of a custom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is the standard socket for giving the agent new capabilities and data sources. The repo ships a template mcp.json with a filesystem server plus a commented GitHub server. Keep the security lens: every MCP server is new surface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spine of the hands-on hour (0:30–1:20). Use this slide as a progress anchor — come back to it between stations so people always know where they are. Each station: short demo, a micro-exercise they try, a quick debrief. Every step has an expected outcome and a fallback (pre-baked branch/recording) if a live agent stalls.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goal: turn a raw issue into an actionable, reviewable task list. This is where agentic work should start — plan before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a skill shapes the output into a consistent task format. Debrief: the value is a reviewable plan, not code yet. Micro-exercise: attendees run the same prompt on their connected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station. Emphasise trade-off thinking and capturing the decision as an ADR that lives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on a canvas so the plan and the resulting diff are visible. Debrief: the ADR is a durable artefact — the agent is drafting, the architect decides. Micro-exercise: attendees critique the agent's trade-off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implement loop. Assign issue #1 to a session, review the diff on the Canvas, then open a PR from the session for Station 7. A sharp eye may also spot the planted non-positive-amount bug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Canvas shows the session's diff by default (no need to ask for it) — review it, approve, then open a PR from the session; Station 7 reviews and merges it. The tests only cover the limit; the negative-amount bug is still lurking (the Station 7 review catches it). Micro-exercise: run it, read the diff on the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data sub-tasks: declarative migration with Atlas, tSQLt tests, and a SARGability fix. Run whichever fits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Atlas = declarative schema-as-code for MSSQL; tSQLt = SQL Server unit tests for stored procs. 4b's non-positive test is written to FAIL against the current proc — that motivates the fix and mirrors the C# bug theme. 4c: the WHERE wraps PostedAt in a function, killing index use. Pick one or two sub-tasks depending on the room's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 the tool works on legacy Object Pascal even though RAD Studio has no inline Copilot. Drive edits from the app, repo/worktree-based.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agentic edits/refactors/test-gen work fine on Delphi because the app is repo/worktree-based — you just drive it from the app, not the IDE. The current InterestCalc has a rounding weakness (Trunc / no 2dp). DUnitX for logic, Appium+NovaWindows for the Win32 statement screen (targets edtAccountId, btnLoad, lstStatement by Name).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builds. This is the "teach them to fish" station — they complete the starter pii-redaction-check skill and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 ships a starter pii-redaction-check/SKILL.md (frontmatter + TODO body). Attendees fill the body, install and invoke it. It flags PII reaching logs/console/messages (e.g. account ids in TransferResult.Fail messages) — NOT a logic check, so it will not find the non-positive-amount bug (that surfaces in the Station 7 review). Debrief: skills encode house rules once, reuse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production: review the PR, use Agent Merge to shepherd it, then set up a nightly Automation. Human approval stays mandatory.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Sequence: Copilot code review on the PR → Agent Merge guides it through gates (you approve) → wire the nightly dependency/CVE Automation. Reinforce: Agent Merge is assistive; human review is non-negotiable in a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reusable "Demo" marker style. Whenever you hit a purple slide in delivery, hands off keyboards — attendees watch. Narrate what you are approving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"Your turn" marker. Green = hands on keyboards. Timebox strictly (~2-3 min) so stations stay on schedule. Rescue anyone who stalls with the pre-baked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break. This is the "level up" segment — specs before code, tracked as artefacts.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(Fission-AI) is lightweight and brownfield-first; the propose/apply/archive verbs appear as slash-command prompt files. Spec Kit (github/spec-kit) is the heavier, template-driven, agent-agnostic alternative. Starting point: the repo is OpenSpec-initialised and the daily limit is already shipped, so we build the next unbuilt feature — idempotent transfers, designed in Station 2's ADR 0001 and filed as issue #6; openspec propose reads that issue. Fallback: the pre-baked change on the demo repo's openspec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for a bank audience. Trainer tips: (1) always demo reading the Canvas diff before applying; (2) never merge without a human gate; (3) remind that the banking-review skill and security-reviewer agent exist to make review consistent. Tie back to the planted bug: tooling helps, but judgement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against the four takeaways from slide 2. Hand out the cheat-sheet. As a trainer-of-trainers, invite them to run this deck themselves and reuse the fallback branches. Leave time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· 2 HOURS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101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76072" y="3383280"/>
            <a:ext cx="1828800" cy="82296"/>
          </a:xfrm>
          <a:prstGeom prst="roundRect">
            <a:avLst>
              <a:gd name="adj" fmla="val 44444"/>
            </a:avLst>
          </a:prstGeom>
          <a:solidFill>
            <a:srgbClr val="00A3A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118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GitHub Copilot app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NorthBank core — a hands-on tour across the SDLC.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speaker notes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advance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overview.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how we got here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13232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Autocomplete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Line-by-line suggestions. You drive every keystroke.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353458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18050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Chat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Ask/edit in a side panel. You still copy, paste, run.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58277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EAF0FA"/>
          </a:solidFill>
          <a:ln w="12700">
            <a:solidFill>
              <a:srgbClr val="4A86E8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22869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Agent-native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a goal. The agent plans, edits many files, runs tools, opens PRs.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lives in the third era: </a:t>
            </a:r>
            <a:pPr algn="l" indent="0" marL="0">
              <a:buNone/>
            </a:pPr>
            <a:r>
              <a:rPr lang="en-US" sz="21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agent-native</a:t>
            </a:r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development.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709160"/>
            <a:ext cx="914400" cy="457200"/>
          </a:xfrm>
          <a:prstGeom prst="roundRect">
            <a:avLst>
              <a:gd name="adj" fmla="val 20000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4343400"/>
            <a:ext cx="95399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indent="0" marL="0">
              <a:buNone/>
            </a:pPr>
            <a:r>
              <a:rPr lang="en-US" sz="1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Copilot, not building agents.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leave with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mental model of sessions, worktrees, canvases, My Work, Automations, Agent Merge.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concrete SDLC moves you can reproduce on your own repo.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extend Copilot with skills, plugins and MCP.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using this safely in a regulated bank.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GitHub Copilot app?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agent-native desktop app — Windows / macOS / Linux.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17 June 2026.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 paid Copilot licence.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VS Code plugin — it is repo/worktree-based.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 sessions and GitHub-hosted cloud sessions.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0" y="1737360"/>
            <a:ext cx="2377440" cy="3108960"/>
          </a:xfrm>
          <a:prstGeom prst="roundRect">
            <a:avLst>
              <a:gd name="adj" fmla="val 3077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(desktop)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132320" y="256032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0" y="310896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0" y="365760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0" y="182880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repo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0" y="3291840"/>
            <a:ext cx="2148840" cy="822960"/>
          </a:xfrm>
          <a:prstGeom prst="roundRect">
            <a:avLst>
              <a:gd name="adj" fmla="val 6667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cloud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4FB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235440" y="2212848"/>
            <a:ext cx="365760" cy="0"/>
          </a:xfrm>
          <a:prstGeom prst="line">
            <a:avLst/>
          </a:prstGeom>
          <a:noFill/>
          <a:ln w="28575">
            <a:solidFill>
              <a:srgbClr val="0A254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3703320"/>
            <a:ext cx="365760" cy="0"/>
          </a:xfrm>
          <a:prstGeom prst="line">
            <a:avLst/>
          </a:prstGeom>
          <a:noFill/>
          <a:ln w="28575">
            <a:solidFill>
              <a:srgbClr val="00A3A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sessions &amp; worktrees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in its own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git worktree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parallel work, no stepping on each other.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1554480" cy="822960"/>
          </a:xfrm>
          <a:prstGeom prst="roundRect">
            <a:avLst>
              <a:gd name="adj" fmla="val 6667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035040" y="233172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 / worktree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0" y="338328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B / worktree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443484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 / worktree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68880" y="3520440"/>
            <a:ext cx="4114800" cy="-86868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3520440"/>
            <a:ext cx="4114800" cy="457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520440"/>
            <a:ext cx="4114800" cy="9601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canvases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surfaces that show the agent's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terminals, diffs and workflow state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works.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283464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FF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dotnet test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7CC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08660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8660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0" y="338328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0" y="3749040"/>
            <a:ext cx="1920240" cy="274320"/>
          </a:xfrm>
          <a:prstGeom prst="rect">
            <a:avLst/>
          </a:prstGeom>
          <a:solidFill>
            <a:srgbClr val="FDEAEA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0" y="411480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My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your sessions, issues and PRs — your command centre.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65960" y="30632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3255264"/>
            <a:ext cx="164592" cy="164592"/>
          </a:xfrm>
          <a:prstGeom prst="ellipse">
            <a:avLst/>
          </a:prstGeom>
          <a:solidFill>
            <a:srgbClr val="00A3A3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3063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transfer limit — running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65960" y="37490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3941064"/>
            <a:ext cx="164592" cy="164592"/>
          </a:xfrm>
          <a:prstGeom prst="ellipse">
            <a:avLst/>
          </a:prstGeom>
          <a:solidFill>
            <a:srgbClr val="1C5DC4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3749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#2: reject non-positive amount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65960" y="44348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48840" y="4626864"/>
            <a:ext cx="164592" cy="16459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44348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#7: ready to review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Automations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/ background prompts — the agent works on a schedule, not just on demand.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743200"/>
            <a:ext cx="1645920" cy="1645920"/>
          </a:xfrm>
          <a:prstGeom prst="ellipse">
            <a:avLst/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3566160"/>
            <a:ext cx="0" cy="-548640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3566160"/>
            <a:ext cx="411480" cy="164592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3566160"/>
            <a:ext cx="100584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754880" y="310896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deps &amp; CVEs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0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open an issue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Agent Merge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 PR through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→ checks → merge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 you approving the gates.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82880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2336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61772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1228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40664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019556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F9D58"/>
          </a:solidFill>
          <a:ln w="15875">
            <a:solidFill>
              <a:srgbClr val="0F9D5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Skills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folders of instructions/scripts Copilot loads when relevant.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SKILL.md with YAML frontmatter (name, description).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 when the task matches.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Community: Addy Osmani agent-skills (24 lifecycle skills), Matt Pocock short-form skills, github/awesome-copilot.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them two ways: copy folders into .github/skills/, or install a plugin from a marketplace (next slide).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3704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4389120"/>
            <a:ext cx="1083838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.github/skills/banking-review/SKILL.md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banking-review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 a diff for NorthBank money-safety rules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Plugins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</a:t>
            </a:r>
            <a:pPr algn="l" indent="0" marL="0">
              <a:buNone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bundle custom agents, skills, hooks, MCP servers and LSP configs.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agents: *.agent.md · Hooks: hooks.json · MCP: .mcp.json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marketplace = a repo with marketplace.json under .github/plugin.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&amp; install right in the app — Settings → Plugins: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429000"/>
            <a:ext cx="11094415" cy="1417320"/>
          </a:xfrm>
          <a:prstGeom prst="roundRect">
            <a:avLst>
              <a:gd name="adj" fmla="val 3226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3474720"/>
            <a:ext cx="10838383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→ Plugins → Install → Add Marketplace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amilos/agentic-coding-101-marketplace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Install:  addyosmani-agent-skills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Install:  mattpocock-skills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5239512"/>
            <a:ext cx="1076523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marketplace bundles Addy Osmani's (24) + Matt Pocock's (39) skills as two plugins — MIT, redistributed with attribution.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MCP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servers wire external tools/data into repo and coding-agent settings.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3172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MCP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0" y="338328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443484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/ custom MCP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08960" y="3538728"/>
            <a:ext cx="3840480" cy="-841248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3538728"/>
            <a:ext cx="3840480" cy="2743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3538728"/>
            <a:ext cx="3840480" cy="89611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stations across the SDLC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62295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62295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208015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7594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594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82166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38960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960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43532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0325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325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04897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61691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1691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66263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230568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30568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0276288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4892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min each: demo → micro-exercise → debrief. We return to this map between stations.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 /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 → structured task list via a skill.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 · Plan / Requirements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/ 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issue #1 (the daily-transfer-limit gap) and produce a structured task list with acceptance criteria and likely files to change.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the planning-and-task-breakdown skill, read ISSUES.md issue #1 and produce a structured task list with acceptance criteria and the files likely to change.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checklist naming TransferService.cs, Ledger.cs and the test project. Fallback: pre-baked task list on branch station-1.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+ ADR for idempotent, safely-retried transfers — on a canvas.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 · Design / Architecture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designs for idempotent transfers so a retry never double-posts; write an ADR.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retry failed transfers. Propose 2-3 designs to make Transfer idempotent so a retry never double-posts. Compare trade-offs, then write an ADR to docs/adr/0001-idempotent-transfers.md.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2-3 options (idempotency key, dedupe table, natural key) + an ADR file. Fallback: sample ADR on branch station-2.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issue to an agent session; multi-file feature in PaymentService; open a PR.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 · Implement in C#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daily transfer limit across PaymentService and add xUnit tests — review the diff first.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 ISSUES.md issue #1 (daily transfer limit) across PaymentService. Update TransferService and add xUnit tests.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multi-file diff + new passing tests; open a PR from the session for Station 7. Fallback: completed branch station-3.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migration + tSQLt tests + optimise the slow statement query.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 · Data / T-SQL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— Atlas declarative schema change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atlas/schema.hcl, add a nullable Reference column of type nvarchar(140) to the LedgerEntries table, then generate the migration with atlas migrate diff.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— tSQLt tests for the posting proc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tSQLt tests for dbo.PostTransaction covering a normal post and a non-positive amount that must be rejected.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— make the slow query SARGable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why db/reports_slow.sql is slow and rewrite it to be SARGable; suggest the index to add.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branch station-4 with migration, tests and rewritten query.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 test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QA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&amp; refactor InterestCalc; DUnitX tests; Appium/NovaWindows UI test.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 · Legacy / Delphi + UI test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QA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5a — explain &amp; refactor rounding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legacy/InterestCalc.pas, then refactor CalculateMonthlyInterest to use banker's rounding to 2 decimal places without changing the public signature.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5b — DUnitX tests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 DUnitX tests for CalculateMonthlyInterest including a rounding edge case.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5c — Appium + NovaWindows UI test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Scaffold an Appium + NovaWindows test that loads a statement for account 1001 in StatementViewer and asserts the list is populated.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No native inline completion in RAD Studio — the app edits Object Pascal as text. Fallback: branch station-5.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+ install + invoke your own skill.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 · Author a skill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starter skill, then run it over the code — watch it flag account numbers reaching logs, console or messages.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 skill named pii-redaction-check that flags account numbers, names and emails written to logs or console. Put it in .github/skills/pii-redaction-check/SKILL.md, then run it over TransferService.cs.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completed SKILL.md + findings on logging paths. Fallback: reference skill on branch station-6.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QA /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review → Agent Merge → an Automation.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 · Review &amp; Ship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PR, then Agent Merge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this PR for banking-safety issues and summarise required changes.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38658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nightly Automation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706624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night, check for outdated NuGet dependencies and known CVEs and open an issue if any are found.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review comments + a merged PR + a scheduled Automation. Fallback: branch station-7 + recording.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7B2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2F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74320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me first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slides = the trainer drives. Follow the canvas: read the plan, then the diff, then approve.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9D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you drive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slides = micro-exercise on your own connected repo. Aim for the expected outcome; use the fallback branch if the agent stalls.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1:25–1:45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OpenSpec: propose → apply → archive.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· propose → apply → archive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</a:t>
            </a:r>
            <a:pPr algn="l" indent="0" marL="0"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brownfield-first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spec-driven development. Generates </a:t>
            </a:r>
            <a:pPr algn="l" indent="0" marL="0">
              <a:buNone/>
            </a:pPr>
            <a:r>
              <a:rPr lang="en-US" sz="1500" dirty="0">
                <a:solidFill>
                  <a:srgbClr val="1C5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.github/prompts/*.prompt.md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Copilot app surfaces as slash commands.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/propose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9028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25780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/apply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5352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832104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0A3A3"/>
          </a:solidFill>
          <a:ln w="15875">
            <a:solidFill>
              <a:srgbClr val="00A3A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/archive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11094415" cy="1234440"/>
          </a:xfrm>
          <a:prstGeom prst="roundRect">
            <a:avLst>
              <a:gd name="adj" fmla="val 3704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3154680"/>
            <a:ext cx="1083838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propose add-idempotent-transfers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review generated proposal/specs/tasks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apply  add-idempotent-transfers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archive add-idempotent-transfers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" y="4736592"/>
            <a:ext cx="10765231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Contrast: GitHub Spec Kit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Heavier — templates + CLI, /specify /plan /tasks, agent-agnostic (30+ agents). Choose OpenSpec for brownfield &amp; light-touch; Spec Kit for greenfield &amp; ceremony.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a regulated bank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is mandatory — Agent Merge assists, it does not replace approval.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diff and plan on the canvas before applying.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is decimal / Currency, never float. No PII in logs.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transfer path validated; ledger entries balanced.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78728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each MCP server as new attack surface — least privilege.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Automations deliberately (cost + noise).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secrets out of prompts and worktrees.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house rules as skills/plugins so review is consistent.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· 1:45–2:00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Recap, tips &amp; Q&amp;A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11094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sessions/worktrees, canvases, My Work, Automations, Agent Merge.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SDLC moves you can run on your own repo tomorrow.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with skills, plugins, MCP; go deeper with OpenSpec.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first — you direct, you review, you ship.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Cheat-sheet handout · questions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Coding 101 with the GitHub Copilot App</dc:title>
  <dc:subject>PptxGenJS Presentation</dc:subject>
  <dc:creator>Agentic Coding 101</dc:creator>
  <cp:lastModifiedBy>Agentic Coding 101</cp:lastModifiedBy>
  <cp:revision>1</cp:revision>
  <dcterms:created xsi:type="dcterms:W3CDTF">2026-07-14T00:48:33Z</dcterms:created>
  <dcterms:modified xsi:type="dcterms:W3CDTF">2026-07-14T00:48:33Z</dcterms:modified>
</cp:coreProperties>
</file>